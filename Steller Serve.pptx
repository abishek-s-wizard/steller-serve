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9" r:id="rId4"/>
    <p:sldId id="258" r:id="rId5"/>
    <p:sldId id="272" r:id="rId6"/>
    <p:sldId id="273" r:id="rId7"/>
    <p:sldId id="267" r:id="rId8"/>
    <p:sldId id="264" r:id="rId9"/>
    <p:sldId id="261" r:id="rId10"/>
    <p:sldId id="262" r:id="rId11"/>
  </p:sldIdLst>
  <p:sldSz cx="9144000" cy="6858000" type="screen4x3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BB5F53D-085D-4AE5-8A57-158117F8EDD2}">
          <p14:sldIdLst>
            <p14:sldId id="256"/>
          </p14:sldIdLst>
        </p14:section>
        <p14:section name="Untitled Section" id="{F9EDB161-8E46-4A44-A091-7E9F81951F64}">
          <p14:sldIdLst>
            <p14:sldId id="257"/>
            <p14:sldId id="269"/>
            <p14:sldId id="258"/>
            <p14:sldId id="272"/>
            <p14:sldId id="273"/>
            <p14:sldId id="267"/>
            <p14:sldId id="264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786270-9D5D-449D-8C37-D3F7BA9A4D56}" v="43" dt="2026-02-12T03:56:21.8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4312" y="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5362" y="768350"/>
            <a:ext cx="5113200" cy="3837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0898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aseline="0" dirty="0"/>
          </a:p>
        </p:txBody>
      </p:sp>
      <p:sp>
        <p:nvSpPr>
          <p:cNvPr id="87" name="Google Shape;87;p1:notes"/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2:notes"/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2:notes"/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84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3:notes"/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5CCDA65-CB38-5288-B791-430945C0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A80BF5C2-E4ED-3513-5294-497AF4E2E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7C784D6A-5CCD-2EE2-4711-CBFDAE07D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C7B07DE-325D-47B6-DAF1-51623157E360}"/>
              </a:ext>
            </a:extLst>
          </p:cNvPr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6807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5CCDA65-CB38-5288-B791-430945C0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A80BF5C2-E4ED-3513-5294-497AF4E2E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7C784D6A-5CCD-2EE2-4711-CBFDAE07D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C7B07DE-325D-47B6-DAF1-51623157E360}"/>
              </a:ext>
            </a:extLst>
          </p:cNvPr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6807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3:notes"/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2473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3:notes"/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6:notes"/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83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4312" y="9721850"/>
            <a:ext cx="30783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-7937" y="6503987"/>
            <a:ext cx="4587900" cy="3414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578350" y="6503987"/>
            <a:ext cx="4559400" cy="3414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083992" y="1431104"/>
            <a:ext cx="511109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1" algn="ctr"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Abishek S                        	920222104001</a:t>
            </a:r>
          </a:p>
          <a:p>
            <a:pPr lvl="1" algn="ctr"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Abitha Taj M         	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920223104001</a:t>
            </a:r>
            <a:endParaRPr lang="en-US"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lvl="1" algn="ctr"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Aakash                    	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920224104001</a:t>
            </a:r>
            <a:endParaRPr lang="en-US" sz="1800" b="1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123022" y="3451965"/>
            <a:ext cx="26521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C83CE-FA16-364C-3BAA-66A71B83B1FF}"/>
              </a:ext>
            </a:extLst>
          </p:cNvPr>
          <p:cNvSpPr txBox="1"/>
          <p:nvPr/>
        </p:nvSpPr>
        <p:spPr>
          <a:xfrm>
            <a:off x="477982" y="209906"/>
            <a:ext cx="8323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algn="ctr"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rgbClr val="11111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930CA-6CE2-A80C-1AB1-CBEA3C3AB313}"/>
              </a:ext>
            </a:extLst>
          </p:cNvPr>
          <p:cNvSpPr txBox="1"/>
          <p:nvPr/>
        </p:nvSpPr>
        <p:spPr>
          <a:xfrm>
            <a:off x="1284729" y="2454501"/>
            <a:ext cx="6250858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Guidance of</a:t>
            </a:r>
          </a:p>
          <a:p>
            <a:pPr algn="ctr"/>
            <a:r>
              <a:rPr lang="en-IN" sz="1800" b="1" dirty="0"/>
              <a:t>     </a:t>
            </a:r>
            <a:r>
              <a:rPr lang="en-IN" sz="1800" b="1" dirty="0" err="1"/>
              <a:t>Mr.R.Rajkumar</a:t>
            </a:r>
            <a:r>
              <a:rPr lang="en-IN" sz="1800" b="1" dirty="0"/>
              <a:t> M.E.,</a:t>
            </a:r>
          </a:p>
          <a:p>
            <a:pPr algn="ctr"/>
            <a:r>
              <a:rPr lang="en-US" altLang="en-US" sz="1800" dirty="0">
                <a:latin typeface="Times New Roman" pitchFamily="18" charset="0"/>
                <a:cs typeface="Times New Roman" pitchFamily="18" charset="0"/>
              </a:rPr>
              <a:t>Assistant Professor</a:t>
            </a:r>
            <a:endParaRPr lang="en-IN" sz="1800" b="1" dirty="0">
              <a:solidFill>
                <a:schemeClr val="tx1"/>
              </a:solidFill>
            </a:endParaRPr>
          </a:p>
          <a:p>
            <a:pPr algn="ctr"/>
            <a:r>
              <a:rPr lang="en-US" altLang="en-US" sz="1800" dirty="0">
                <a:latin typeface="Times New Roman"/>
                <a:cs typeface="Times New Roman"/>
              </a:rPr>
              <a:t>        DEPARTMENT OF COMPUTER SCIENCE</a:t>
            </a:r>
          </a:p>
          <a:p>
            <a:pPr algn="ctr"/>
            <a:r>
              <a:rPr lang="en-US" altLang="en-US" sz="1800" dirty="0">
                <a:latin typeface="Times New Roman"/>
                <a:cs typeface="Times New Roman"/>
              </a:rPr>
              <a:t>AND ENGINEERING</a:t>
            </a:r>
          </a:p>
        </p:txBody>
      </p:sp>
      <p:pic>
        <p:nvPicPr>
          <p:cNvPr id="8" name="Google Shape;89;p13">
            <a:extLst>
              <a:ext uri="{FF2B5EF4-FFF2-40B4-BE49-F238E27FC236}">
                <a16:creationId xmlns:a16="http://schemas.microsoft.com/office/drawing/2014/main" id="{653FA128-339F-C245-10F9-43EB36DFB0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1368" y="3865134"/>
            <a:ext cx="5614219" cy="9151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B0AE31ED-4764-0E7B-ECE6-512098C42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351" y="5851607"/>
            <a:ext cx="4535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n-NO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 : CHENNAI 600 026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B50056BB-C809-D717-3E52-A1C5D9A2B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257" y="4687969"/>
            <a:ext cx="95567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3057" y="6073775"/>
            <a:ext cx="34480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"/>
          <p:cNvSpPr txBox="1"/>
          <p:nvPr/>
        </p:nvSpPr>
        <p:spPr>
          <a:xfrm>
            <a:off x="-23812" y="6073700"/>
            <a:ext cx="2876700" cy="7716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3" algn="ctr">
              <a:buClr>
                <a:schemeClr val="dk1"/>
              </a:buClr>
              <a:buSzPts val="2800"/>
            </a:pPr>
            <a:endParaRPr lang="en-US" sz="1600" dirty="0">
              <a:solidFill>
                <a:srgbClr val="11111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6267450" y="6073775"/>
            <a:ext cx="2876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"/>
          <p:cNvCxnSpPr/>
          <p:nvPr/>
        </p:nvCxnSpPr>
        <p:spPr>
          <a:xfrm>
            <a:off x="0" y="6073775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" name="Google Shape;168;p1"/>
          <p:cNvSpPr txBox="1"/>
          <p:nvPr/>
        </p:nvSpPr>
        <p:spPr>
          <a:xfrm>
            <a:off x="-23812" y="0"/>
            <a:ext cx="9167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ABSTRACT</a:t>
            </a:r>
            <a:endParaRPr sz="32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73079" y="3106715"/>
            <a:ext cx="5294641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22819A-C548-51AD-3CB7-AA0B65422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238" y="1035175"/>
            <a:ext cx="8229600" cy="5157226"/>
          </a:xfrm>
        </p:spPr>
        <p:txBody>
          <a:bodyPr anchor="t"/>
          <a:lstStyle/>
          <a:p>
            <a:pPr marL="11430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Steller Serve, a web-based errand and service management system built on a role-based architecture integrating Users, Service Workers, and Administrators. The platform enables efficient task creation, assignment, tracking, and completion through a centralized and structured workflow. It employs a scalable frontend using React and a modular backend with a relational database to ensure secure data handling and system maintainability. Features such as real-time task monitoring, salary management, notifications, and role-based authentication enhance transparency and operational efficiency. Steller Serve demonstrates the practical application of modern web technologies for building a scalable and user-centric service management platform.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FC7BCB-A3B3-154E-447B-E1A0F0385648}"/>
              </a:ext>
            </a:extLst>
          </p:cNvPr>
          <p:cNvSpPr txBox="1"/>
          <p:nvPr/>
        </p:nvSpPr>
        <p:spPr>
          <a:xfrm>
            <a:off x="237673" y="6192401"/>
            <a:ext cx="235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3057" y="6073775"/>
            <a:ext cx="34480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/>
          <p:cNvSpPr txBox="1"/>
          <p:nvPr/>
        </p:nvSpPr>
        <p:spPr>
          <a:xfrm>
            <a:off x="6267450" y="6073775"/>
            <a:ext cx="2876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"/>
          <p:cNvCxnSpPr/>
          <p:nvPr/>
        </p:nvCxnSpPr>
        <p:spPr>
          <a:xfrm>
            <a:off x="0" y="6073775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" name="Google Shape;168;p1"/>
          <p:cNvSpPr txBox="1"/>
          <p:nvPr/>
        </p:nvSpPr>
        <p:spPr>
          <a:xfrm>
            <a:off x="-23812" y="0"/>
            <a:ext cx="9167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INTRODUCTION</a:t>
            </a:r>
            <a:endParaRPr sz="32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1" name="Google Shape;165;p1"/>
          <p:cNvSpPr txBox="1"/>
          <p:nvPr/>
        </p:nvSpPr>
        <p:spPr>
          <a:xfrm>
            <a:off x="-23812" y="6073700"/>
            <a:ext cx="2876700" cy="7716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3" algn="ctr">
              <a:buClr>
                <a:schemeClr val="dk1"/>
              </a:buClr>
              <a:buSzPts val="2800"/>
            </a:pPr>
            <a:endParaRPr lang="en-US" sz="1100" dirty="0">
              <a:solidFill>
                <a:srgbClr val="11111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AAB7706-2FA2-C883-6E81-34813A20A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4975" y="1702584"/>
            <a:ext cx="850754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StellerServe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service and errand management system designed to simplify the process of requesting, assigning, and completing tasks through a centralized digital platform.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connects users, service workers, and administrators using a role-based architecture to ensure organized workflow, transparency, and controlled access to system functionalities.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developed using modern web technologies with a React-based frontend and a modular backend structure supported by a relational database for secure and scalable data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features such as task tracking, salary management, notifications, and role-based authentication,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StellerServe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efficient and real-world solution for service coordination and management.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E51F3-50ED-6E4F-FE64-D23C91465151}"/>
              </a:ext>
            </a:extLst>
          </p:cNvPr>
          <p:cNvSpPr txBox="1"/>
          <p:nvPr/>
        </p:nvSpPr>
        <p:spPr>
          <a:xfrm>
            <a:off x="237673" y="6192401"/>
            <a:ext cx="235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39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-23812" y="12625"/>
            <a:ext cx="9167812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6" name="Google Shape;11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2737" y="6073775"/>
            <a:ext cx="34480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267450" y="6073775"/>
            <a:ext cx="2876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4</a:t>
            </a:r>
            <a:endParaRPr dirty="0"/>
          </a:p>
        </p:txBody>
      </p:sp>
      <p:sp>
        <p:nvSpPr>
          <p:cNvPr id="10" name="Google Shape;165;p1"/>
          <p:cNvSpPr txBox="1"/>
          <p:nvPr/>
        </p:nvSpPr>
        <p:spPr>
          <a:xfrm>
            <a:off x="-23812" y="6073700"/>
            <a:ext cx="2876700" cy="7716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3" algn="ctr">
              <a:buClr>
                <a:schemeClr val="dk1"/>
              </a:buClr>
              <a:buSzPts val="2800"/>
            </a:pPr>
            <a:endParaRPr lang="en-US" sz="1100" dirty="0">
              <a:solidFill>
                <a:srgbClr val="11111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14605-F13C-9A65-702C-5348A4CC8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3085" y="1486762"/>
            <a:ext cx="722164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centralized web-based platform that enables efficient management of errands and services through structured task creation, assignment, and tracking.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role-based system that clearly separates functionalities for users, service workers, and administrators, ensuring secure access control and organized workflow.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scalable and maintainable system using modern web technologies with a modular architecture and a relational database for reliable data storage and processing.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transparency and operational efficiency by integrating features such as salary management, notifications, and real-time task status updates.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2348D-7A06-6BE6-EA68-F3125065AA97}"/>
              </a:ext>
            </a:extLst>
          </p:cNvPr>
          <p:cNvSpPr txBox="1"/>
          <p:nvPr/>
        </p:nvSpPr>
        <p:spPr>
          <a:xfrm>
            <a:off x="237673" y="6192401"/>
            <a:ext cx="235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DF69897D-464B-77C6-0FF9-6548DC18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">
            <a:extLst>
              <a:ext uri="{FF2B5EF4-FFF2-40B4-BE49-F238E27FC236}">
                <a16:creationId xmlns:a16="http://schemas.microsoft.com/office/drawing/2014/main" id="{35E887D9-A833-60F3-A199-2880648BBD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3057" y="6073775"/>
            <a:ext cx="34480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>
            <a:extLst>
              <a:ext uri="{FF2B5EF4-FFF2-40B4-BE49-F238E27FC236}">
                <a16:creationId xmlns:a16="http://schemas.microsoft.com/office/drawing/2014/main" id="{0849DFC2-86D5-50BE-5BFC-A09E0A9430A6}"/>
              </a:ext>
            </a:extLst>
          </p:cNvPr>
          <p:cNvSpPr txBox="1"/>
          <p:nvPr/>
        </p:nvSpPr>
        <p:spPr>
          <a:xfrm>
            <a:off x="6267450" y="6073775"/>
            <a:ext cx="2876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">
            <a:extLst>
              <a:ext uri="{FF2B5EF4-FFF2-40B4-BE49-F238E27FC236}">
                <a16:creationId xmlns:a16="http://schemas.microsoft.com/office/drawing/2014/main" id="{F3E58476-E48D-0F2C-45A7-7212D393FD28}"/>
              </a:ext>
            </a:extLst>
          </p:cNvPr>
          <p:cNvCxnSpPr/>
          <p:nvPr/>
        </p:nvCxnSpPr>
        <p:spPr>
          <a:xfrm>
            <a:off x="0" y="6073775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" name="Google Shape;168;p1">
            <a:extLst>
              <a:ext uri="{FF2B5EF4-FFF2-40B4-BE49-F238E27FC236}">
                <a16:creationId xmlns:a16="http://schemas.microsoft.com/office/drawing/2014/main" id="{2D04959E-F4FD-08B4-7487-E3840C540DFF}"/>
              </a:ext>
            </a:extLst>
          </p:cNvPr>
          <p:cNvSpPr txBox="1"/>
          <p:nvPr/>
        </p:nvSpPr>
        <p:spPr>
          <a:xfrm>
            <a:off x="-11850" y="0"/>
            <a:ext cx="9167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2800"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2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165;p1">
            <a:extLst>
              <a:ext uri="{FF2B5EF4-FFF2-40B4-BE49-F238E27FC236}">
                <a16:creationId xmlns:a16="http://schemas.microsoft.com/office/drawing/2014/main" id="{497EBAAF-5E11-852A-88A9-4236672686E3}"/>
              </a:ext>
            </a:extLst>
          </p:cNvPr>
          <p:cNvSpPr txBox="1"/>
          <p:nvPr/>
        </p:nvSpPr>
        <p:spPr>
          <a:xfrm>
            <a:off x="-23812" y="6073700"/>
            <a:ext cx="2876700" cy="7716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3" algn="ctr">
              <a:buClr>
                <a:schemeClr val="dk1"/>
              </a:buClr>
              <a:buSzPts val="2800"/>
            </a:pPr>
            <a:endParaRPr lang="en-US" sz="1100" dirty="0">
              <a:solidFill>
                <a:srgbClr val="11111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39A99D-7DB1-8309-9748-B9DF4FEA9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34" y="1528994"/>
            <a:ext cx="801312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service and errand management process mainly relies on manual coordination through phone calls, messaging apps, or unorganized platforms, which leads to communication gaps and delays.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manage users, service providers, tasks, and payments, making it difficult to track service progress and maintain proper records.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transparency in task assignment, salary calculation, and service worker performance monitoring, resulting in trust and management issues.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 are not scalable or secure, as they do not provide proper role-based access control, structured data storage, or administrative monitoring.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0469E-7987-4531-0030-410390E9AF2E}"/>
              </a:ext>
            </a:extLst>
          </p:cNvPr>
          <p:cNvSpPr txBox="1"/>
          <p:nvPr/>
        </p:nvSpPr>
        <p:spPr>
          <a:xfrm>
            <a:off x="237673" y="6192401"/>
            <a:ext cx="235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96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DF69897D-464B-77C6-0FF9-6548DC18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">
            <a:extLst>
              <a:ext uri="{FF2B5EF4-FFF2-40B4-BE49-F238E27FC236}">
                <a16:creationId xmlns:a16="http://schemas.microsoft.com/office/drawing/2014/main" id="{35E887D9-A833-60F3-A199-2880648BBD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3057" y="6073775"/>
            <a:ext cx="34480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>
            <a:extLst>
              <a:ext uri="{FF2B5EF4-FFF2-40B4-BE49-F238E27FC236}">
                <a16:creationId xmlns:a16="http://schemas.microsoft.com/office/drawing/2014/main" id="{0849DFC2-86D5-50BE-5BFC-A09E0A9430A6}"/>
              </a:ext>
            </a:extLst>
          </p:cNvPr>
          <p:cNvSpPr txBox="1"/>
          <p:nvPr/>
        </p:nvSpPr>
        <p:spPr>
          <a:xfrm>
            <a:off x="6267450" y="6073775"/>
            <a:ext cx="2876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">
            <a:extLst>
              <a:ext uri="{FF2B5EF4-FFF2-40B4-BE49-F238E27FC236}">
                <a16:creationId xmlns:a16="http://schemas.microsoft.com/office/drawing/2014/main" id="{F3E58476-E48D-0F2C-45A7-7212D393FD28}"/>
              </a:ext>
            </a:extLst>
          </p:cNvPr>
          <p:cNvCxnSpPr/>
          <p:nvPr/>
        </p:nvCxnSpPr>
        <p:spPr>
          <a:xfrm>
            <a:off x="0" y="6073775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" name="Google Shape;168;p1">
            <a:extLst>
              <a:ext uri="{FF2B5EF4-FFF2-40B4-BE49-F238E27FC236}">
                <a16:creationId xmlns:a16="http://schemas.microsoft.com/office/drawing/2014/main" id="{2D04959E-F4FD-08B4-7487-E3840C540DFF}"/>
              </a:ext>
            </a:extLst>
          </p:cNvPr>
          <p:cNvSpPr txBox="1"/>
          <p:nvPr/>
        </p:nvSpPr>
        <p:spPr>
          <a:xfrm>
            <a:off x="-23812" y="12625"/>
            <a:ext cx="9167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2800"/>
            </a:pPr>
            <a:r>
              <a:rPr lang="en-US" sz="32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165;p1">
            <a:extLst>
              <a:ext uri="{FF2B5EF4-FFF2-40B4-BE49-F238E27FC236}">
                <a16:creationId xmlns:a16="http://schemas.microsoft.com/office/drawing/2014/main" id="{497EBAAF-5E11-852A-88A9-4236672686E3}"/>
              </a:ext>
            </a:extLst>
          </p:cNvPr>
          <p:cNvSpPr txBox="1"/>
          <p:nvPr/>
        </p:nvSpPr>
        <p:spPr>
          <a:xfrm>
            <a:off x="-23812" y="6073700"/>
            <a:ext cx="2876700" cy="7716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3" algn="ctr">
              <a:buClr>
                <a:schemeClr val="dk1"/>
              </a:buClr>
              <a:buSzPts val="2800"/>
            </a:pPr>
            <a:endParaRPr lang="en-US" sz="1100" dirty="0">
              <a:solidFill>
                <a:srgbClr val="11111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77C2A1-ECC3-A7EB-9896-DC0BBFA71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1324" y="1928376"/>
            <a:ext cx="828422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StellerServe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introduces a centralized web-based platform to digitally manage errands and services in an organized and efficient manner.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implements a role-based architecture that integrates users, service workers, and administrators, ensuring secure access control and smooth workflow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a modern React-based frontend and a modular backend with a relational database to provide scalability, reliability, and maintainable system design.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incorporating features such as task tracking, salary management, notifications, and real-time service status updates, the proposed system enhances transparency, efficiency, and user trust.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C35F9-EA09-97BE-8AB8-2B3F38E6690A}"/>
              </a:ext>
            </a:extLst>
          </p:cNvPr>
          <p:cNvSpPr txBox="1"/>
          <p:nvPr/>
        </p:nvSpPr>
        <p:spPr>
          <a:xfrm>
            <a:off x="237673" y="6192401"/>
            <a:ext cx="235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01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0" y="-16041"/>
            <a:ext cx="9144000" cy="8685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FFFF"/>
              </a:buClr>
              <a:buSzPts val="2800"/>
            </a:pP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TOOLS AND TECHNOLOGIES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384C36-F023-4352-B0C5-EF990DA11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785" y="1140271"/>
            <a:ext cx="8865215" cy="38214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ReactJS (frontend user interface development)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HTML, CSS, and JavaScript (UI structure, styling, and interactivity)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(backend services including authentication, database, and APIs)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PostgreSQL (cloud-based relational database via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/ Approach: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Role-based architecture integrating User, Service Worker, and Admin panels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Modular backend design with separation of routes, controllers, and data access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Centralized task management and workflow coordination</a:t>
            </a:r>
          </a:p>
        </p:txBody>
      </p:sp>
      <p:pic>
        <p:nvPicPr>
          <p:cNvPr id="116" name="Google Shape;11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2737" y="6073775"/>
            <a:ext cx="34480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267450" y="6073775"/>
            <a:ext cx="2876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lang="en-US" sz="18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</a:t>
            </a:r>
            <a:r>
              <a:rPr lang="en-IN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dirty="0"/>
          </a:p>
        </p:txBody>
      </p:sp>
      <p:sp>
        <p:nvSpPr>
          <p:cNvPr id="10" name="Google Shape;165;p1"/>
          <p:cNvSpPr txBox="1"/>
          <p:nvPr/>
        </p:nvSpPr>
        <p:spPr>
          <a:xfrm>
            <a:off x="-23812" y="6073700"/>
            <a:ext cx="2876700" cy="7716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3" algn="ctr">
              <a:buClr>
                <a:schemeClr val="dk1"/>
              </a:buClr>
              <a:buSzPts val="2800"/>
            </a:pPr>
            <a:endParaRPr lang="en-US" sz="1100" dirty="0">
              <a:solidFill>
                <a:srgbClr val="11111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02EF9-7EFF-06FD-F829-34840C0B8D6D}"/>
              </a:ext>
            </a:extLst>
          </p:cNvPr>
          <p:cNvSpPr txBox="1"/>
          <p:nvPr/>
        </p:nvSpPr>
        <p:spPr>
          <a:xfrm>
            <a:off x="237673" y="6192401"/>
            <a:ext cx="235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53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0" y="12625"/>
            <a:ext cx="91440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FFFF"/>
              </a:buClr>
              <a:buSzPts val="2800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SDG GOAL MAPPING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116" name="Google Shape;11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2737" y="6073775"/>
            <a:ext cx="34480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267450" y="6073775"/>
            <a:ext cx="2876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lang="en-US" sz="18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9</a:t>
            </a:r>
            <a:endParaRPr dirty="0"/>
          </a:p>
        </p:txBody>
      </p:sp>
      <p:sp>
        <p:nvSpPr>
          <p:cNvPr id="10" name="Google Shape;165;p1"/>
          <p:cNvSpPr txBox="1"/>
          <p:nvPr/>
        </p:nvSpPr>
        <p:spPr>
          <a:xfrm>
            <a:off x="-23812" y="6073700"/>
            <a:ext cx="2876700" cy="7716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3" algn="ctr">
              <a:buClr>
                <a:schemeClr val="dk1"/>
              </a:buClr>
              <a:buSzPts val="2800"/>
            </a:pPr>
            <a:endParaRPr lang="en-US" sz="16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235C33F-15FD-5832-70C7-CA5E8CA07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6195" y="1520063"/>
            <a:ext cx="849160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StellerServe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fair employment opportunities for service workers through structured task allocation, transparent salary management, and performance tracking.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leverages modern web technologies to build a scalable digital platform that supports efficient service infrastructure.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enabling easy access to local services and errands, the system improves urban living efficiency and community support.</a:t>
            </a:r>
          </a:p>
        </p:txBody>
      </p:sp>
      <p:cxnSp>
        <p:nvCxnSpPr>
          <p:cNvPr id="8" name="Google Shape;149;p18"/>
          <p:cNvCxnSpPr/>
          <p:nvPr/>
        </p:nvCxnSpPr>
        <p:spPr>
          <a:xfrm>
            <a:off x="0" y="6073775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3AC004-53FE-BBB6-858D-883028563291}"/>
              </a:ext>
            </a:extLst>
          </p:cNvPr>
          <p:cNvSpPr txBox="1"/>
          <p:nvPr/>
        </p:nvSpPr>
        <p:spPr>
          <a:xfrm>
            <a:off x="237673" y="6192401"/>
            <a:ext cx="235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2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2737" y="6073775"/>
            <a:ext cx="34480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6267450" y="6073775"/>
            <a:ext cx="2876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lang="en-US" sz="18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</a:t>
            </a: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</p:txBody>
      </p:sp>
      <p:cxnSp>
        <p:nvCxnSpPr>
          <p:cNvPr id="149" name="Google Shape;149;p18"/>
          <p:cNvCxnSpPr/>
          <p:nvPr/>
        </p:nvCxnSpPr>
        <p:spPr>
          <a:xfrm>
            <a:off x="0" y="6073775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0" name="Google Shape;150;p18"/>
          <p:cNvSpPr txBox="1"/>
          <p:nvPr/>
        </p:nvSpPr>
        <p:spPr>
          <a:xfrm>
            <a:off x="-23812" y="0"/>
            <a:ext cx="9167700" cy="7716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CONCLUSION</a:t>
            </a:r>
            <a:endParaRPr sz="3200"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2787650" y="3244850"/>
            <a:ext cx="1842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922337" y="10061575"/>
            <a:ext cx="57150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r>
              <a:rPr lang="en-US" sz="1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dirty="0"/>
          </a:p>
        </p:txBody>
      </p:sp>
      <p:sp>
        <p:nvSpPr>
          <p:cNvPr id="13" name="Google Shape;165;p1"/>
          <p:cNvSpPr txBox="1"/>
          <p:nvPr/>
        </p:nvSpPr>
        <p:spPr>
          <a:xfrm>
            <a:off x="-23812" y="6073700"/>
            <a:ext cx="2876700" cy="7716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3" algn="ctr">
              <a:buClr>
                <a:schemeClr val="dk1"/>
              </a:buClr>
              <a:buSzPts val="2800"/>
            </a:pPr>
            <a:endParaRPr lang="en-US" sz="1100" dirty="0">
              <a:solidFill>
                <a:srgbClr val="11111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A99078-5A71-CA75-1480-6F343C4A2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199" y="2229187"/>
            <a:ext cx="831484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StellerServe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a centralized, role-based web application that efficiently manages errands and services through structured task coordination and secure access control.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 of modern web technologies and a scalable backend architecture ensures system reliability, maintainability, and real-world applicability.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improving transparency, workflow efficiency, and service management, the proposed system provides a practical solution for modern service-oriented platforms.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6697E-CC16-7E45-FEF9-B5B765C72CC6}"/>
              </a:ext>
            </a:extLst>
          </p:cNvPr>
          <p:cNvSpPr txBox="1"/>
          <p:nvPr/>
        </p:nvSpPr>
        <p:spPr>
          <a:xfrm>
            <a:off x="237673" y="6192401"/>
            <a:ext cx="235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Steller Serve – Making Every Task Easier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/>
        </p:nvSpPr>
        <p:spPr>
          <a:xfrm>
            <a:off x="1353457" y="1543730"/>
            <a:ext cx="6858000" cy="30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9600"/>
              <a:buFont typeface="Times New Roman"/>
              <a:buNone/>
            </a:pPr>
            <a:r>
              <a:rPr lang="en-US" sz="9600" b="1" i="0" u="none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</a:t>
            </a:r>
            <a:r>
              <a:rPr lang="en-US" sz="9600" b="1" i="0" u="none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endParaRPr dirty="0"/>
          </a:p>
        </p:txBody>
      </p:sp>
      <p:sp>
        <p:nvSpPr>
          <p:cNvPr id="160" name="Google Shape;160;p19"/>
          <p:cNvSpPr txBox="1"/>
          <p:nvPr/>
        </p:nvSpPr>
        <p:spPr>
          <a:xfrm>
            <a:off x="-7937" y="6503987"/>
            <a:ext cx="4587900" cy="341400"/>
          </a:xfrm>
          <a:prstGeom prst="rect">
            <a:avLst/>
          </a:prstGeom>
          <a:gradFill>
            <a:gsLst>
              <a:gs pos="0">
                <a:srgbClr val="769535"/>
              </a:gs>
              <a:gs pos="80000">
                <a:srgbClr val="9BC348"/>
              </a:gs>
              <a:gs pos="100000">
                <a:srgbClr val="9CC746"/>
              </a:gs>
            </a:gsLst>
            <a:lin ang="16200038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4578350" y="6503987"/>
            <a:ext cx="4559400" cy="341400"/>
          </a:xfrm>
          <a:prstGeom prst="rect">
            <a:avLst/>
          </a:prstGeom>
          <a:gradFill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38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</TotalTime>
  <Words>940</Words>
  <Application>Microsoft Office PowerPoint</Application>
  <PresentationFormat>On-screen Show (4:3)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OBJECTIVE</vt:lpstr>
      <vt:lpstr>PowerPoint Presentation</vt:lpstr>
      <vt:lpstr>PowerPoint Presentation</vt:lpstr>
      <vt:lpstr>TOOLS AND TECHNOLOGIES</vt:lpstr>
      <vt:lpstr> SDG GOAL MAPPING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19EC010 19EC010</dc:creator>
  <cp:lastModifiedBy>Abishek S</cp:lastModifiedBy>
  <cp:revision>244</cp:revision>
  <dcterms:modified xsi:type="dcterms:W3CDTF">2026-02-12T03:58:57Z</dcterms:modified>
</cp:coreProperties>
</file>